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ed Hat Display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edHatDisplay-bold.fntdata"/><Relationship Id="rId27" Type="http://schemas.openxmlformats.org/officeDocument/2006/relationships/font" Target="fonts/RedHatDisplay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edHatDisplay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RedHatDisplay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b76a7698f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8b76a7698f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8b76a7698f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b76a7698f_2_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8b76a7698f_2_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8b76a7698f_2_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b76a7698f_2_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8b76a7698f_2_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8b76a7698f_2_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b76a7698f_2_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8b76a7698f_2_8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Closest to Santa Fe, New Mexico </a:t>
            </a:r>
            <a:r>
              <a:rPr b="1" lang="en" sz="13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income, age and education levels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1" name="Google Shape;141;g38b76a7698f_2_8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b76a7698f_2_1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8b76a7698f_2_12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8b76a7698f_2_12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b76a7698f_12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8b76a7698f_12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8b76a7698f_12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b76a7698f_2_1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8b76a7698f_2_15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8b76a7698f_2_15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b1ba26547_2_1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db1ba26547_2_11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db1ba26547_2_11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8b76a7698f_2_2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8b76a7698f_2_25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8b76a7698f_2_25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8b76a7698f_2_2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38b76a7698f_2_26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8b76a7698f_2_26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8b76a7698f_2_2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8b76a7698f_2_28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8b76a7698f_2_28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8b76a7698f_12_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8b76a7698f_12_2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8b76a7698f_12_2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db1ba26547_2_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db1ba26547_2_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db1ba26547_2_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8b76a7698f_2_2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8b76a7698f_2_29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8b76a7698f_2_29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8b76a7698f_2_3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8b76a7698f_2_3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8b76a7698f_2_3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db1ba26547_2_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3db1ba26547_2_2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Regular segment is the top priority</a:t>
            </a:r>
            <a:r>
              <a:rPr lang="en">
                <a:solidFill>
                  <a:schemeClr val="dk1"/>
                </a:solidFill>
              </a:rPr>
              <a:t> because it has high value but meaningful churn risk.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High-Value customers should be maintained and grown</a:t>
            </a:r>
            <a:r>
              <a:rPr lang="en">
                <a:solidFill>
                  <a:schemeClr val="dk1"/>
                </a:solidFill>
              </a:rPr>
              <a:t> through targeted offers and increased purchase frequency.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Occasional customers should be nurtured selectively</a:t>
            </a:r>
            <a:r>
              <a:rPr lang="en">
                <a:solidFill>
                  <a:schemeClr val="dk1"/>
                </a:solidFill>
              </a:rPr>
              <a:t> to move them into the Regular segment.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Overall, resources should focus first where </a:t>
            </a:r>
            <a:r>
              <a:rPr b="1" lang="en">
                <a:solidFill>
                  <a:schemeClr val="dk1"/>
                </a:solidFill>
              </a:rPr>
              <a:t>customer value and revenue risk are highest</a:t>
            </a:r>
            <a:r>
              <a:rPr lang="en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475" name="Google Shape;475;g3db1ba26547_2_2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db1ba26547_0_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g3db1ba26547_0_2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7" name="Google Shape;487;g3db1ba26547_0_2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daaa0d95ed_0_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g3daaa0d95ed_0_5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3daaa0d95ed_0_5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db1ba26547_2_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g3db1ba26547_2_4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db1ba26547_2_4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db1ba26547_2_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3db1ba26547_2_5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db1ba26547_2_5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datasets/imakash3011/customer-personality-analysi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365760" y="34747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CAPSTONE PROJECT  ·  FINAL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365760" y="914400"/>
            <a:ext cx="7315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4600"/>
              <a:buFont typeface="Calibri"/>
              <a:buNone/>
            </a:pPr>
            <a:r>
              <a:rPr b="1" i="0" lang="en" sz="46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Customer Loyalty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4600"/>
              <a:buFont typeface="Calibri"/>
              <a:buNone/>
            </a:pPr>
            <a:r>
              <a:rPr b="1" i="0" lang="en" sz="46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Predictive Analytics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365760" y="3154680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Segmentation  ·  Churn Prediction  ·  Lifetime Value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365760" y="39319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Julian Cerro  ·  Waleed El-Jack  ·  Marianne Murrle  ·  Rachel Schultz  ·  Tiana Quiroga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365760" y="425196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6858000" y="274320"/>
            <a:ext cx="2468880" cy="2468880"/>
          </a:xfrm>
          <a:prstGeom prst="ellipse">
            <a:avLst/>
          </a:prstGeom>
          <a:solidFill>
            <a:srgbClr val="1E6B38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7589520" y="1280160"/>
            <a:ext cx="1645920" cy="1645920"/>
          </a:xfrm>
          <a:prstGeom prst="ellipse">
            <a:avLst/>
          </a:prstGeom>
          <a:solidFill>
            <a:srgbClr val="3DAA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What We'll Cover Today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320040" y="1261872"/>
            <a:ext cx="4114800" cy="82296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320040" y="1261872"/>
            <a:ext cx="502920" cy="82296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320040" y="1261872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A1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D1A1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914400" y="1307592"/>
            <a:ext cx="3456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Problem Statement &amp;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914400" y="1664208"/>
            <a:ext cx="3456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Business challenge, dataset selection, market context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20040" y="2221992"/>
            <a:ext cx="4114800" cy="82296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320040" y="2221992"/>
            <a:ext cx="502920" cy="82296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320040" y="2221992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A1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D1A1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914400" y="2267712"/>
            <a:ext cx="3456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914400" y="2624328"/>
            <a:ext cx="3456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Demographics, spending patterns, channel behavior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20040" y="3182112"/>
            <a:ext cx="4114800" cy="82296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320040" y="3182112"/>
            <a:ext cx="502920" cy="82296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320040" y="3182112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A1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D1A1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914400" y="3227832"/>
            <a:ext cx="3456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Segmentation Methodology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914400" y="3584448"/>
            <a:ext cx="3456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K-Means setup, feature engineering, cluster validation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20040" y="4142232"/>
            <a:ext cx="4114800" cy="82296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320040" y="4142232"/>
            <a:ext cx="502920" cy="82296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320040" y="4142232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A1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D1A1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914400" y="4187952"/>
            <a:ext cx="3456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Cluster Profiles &amp; Insights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914400" y="4544568"/>
            <a:ext cx="3456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4 segments, revenue share, campaign response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4709160" y="1261872"/>
            <a:ext cx="4114800" cy="82296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4709160" y="1261872"/>
            <a:ext cx="502920" cy="82296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4709160" y="1261872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A1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D1A1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5303520" y="1307592"/>
            <a:ext cx="3456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Churn Model Methodology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5303520" y="1664208"/>
            <a:ext cx="3456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Pipeline, preprocessing, LR vs. Random Forest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709160" y="2221992"/>
            <a:ext cx="4114800" cy="82296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4709160" y="2221992"/>
            <a:ext cx="502920" cy="82296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4709160" y="2221992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A1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D1A12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5303520" y="2267712"/>
            <a:ext cx="3456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Churn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5303520" y="2624328"/>
            <a:ext cx="3456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Model performance, churn rates by segment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709160" y="3182112"/>
            <a:ext cx="4114800" cy="82296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4709160" y="3182112"/>
            <a:ext cx="502920" cy="82296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4709160" y="3182112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A1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D1A12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303520" y="3227832"/>
            <a:ext cx="3456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CLV Methodology &amp;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5303520" y="3584448"/>
            <a:ext cx="3456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Formula, feature importance, predicted CLV by segment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4709160" y="4142232"/>
            <a:ext cx="4114800" cy="82296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4709160" y="4142232"/>
            <a:ext cx="502920" cy="82296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4709160" y="4142232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A1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D1A12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5303520" y="4187952"/>
            <a:ext cx="3456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5303520" y="4544568"/>
            <a:ext cx="3456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Actionable strategies per segment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>
            <a:off x="457200" y="256025"/>
            <a:ext cx="536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900"/>
              <a:buFont typeface="Calibri"/>
              <a:buNone/>
            </a:pPr>
            <a:r>
              <a:rPr b="1" lang="en" sz="1100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Four analytical objectives designed to turn customer data into actionable loyalty 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The Business Challenge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1E6B3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The retailer lacks a clear predictive strategy to strengthen customer loyalty, prevent churn, and maximize customer lifetime value</a:t>
            </a:r>
            <a:r>
              <a:rPr b="1" lang="en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i="0" lang="en" sz="14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 limiting sustainable growth.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365760" y="2212848"/>
            <a:ext cx="1920240" cy="260604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365760" y="233172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365760" y="292608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Segment Customers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2496312" y="2212848"/>
            <a:ext cx="1920240" cy="260604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2496312" y="292608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Predict CLV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2587752" y="333756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Identify high- and low-value loyalty program members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4626864" y="2212848"/>
            <a:ext cx="1920240" cy="260604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4626864" y="292608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Identify Churn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4718304" y="333756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Enable proactive retention for at-risk customers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6757416" y="2212848"/>
            <a:ext cx="1920240" cy="260604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6757416" y="292608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Executive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6848856" y="333756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Deliver insights for strategic decision-making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7" title="market-seg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1550" y="2377438"/>
            <a:ext cx="548625" cy="54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budge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2124" y="2377438"/>
            <a:ext cx="548625" cy="54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title="tren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9450" y="2368512"/>
            <a:ext cx="495063" cy="495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title="dashboar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43225" y="2431000"/>
            <a:ext cx="495075" cy="49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/>
          <p:nvPr/>
        </p:nvSpPr>
        <p:spPr>
          <a:xfrm>
            <a:off x="457200" y="333756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Group by Spend, Frequency, and Recency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/>
          <p:nvPr/>
        </p:nvSpPr>
        <p:spPr>
          <a:xfrm>
            <a:off x="457200" y="256025"/>
            <a:ext cx="816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900"/>
              <a:buFont typeface="Calibri"/>
              <a:buNone/>
            </a:pPr>
            <a:r>
              <a:rPr b="1" lang="en" sz="1100" u="sng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Synthetic dataset</a:t>
            </a:r>
            <a:r>
              <a:rPr lang="en" sz="1000" u="sng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100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 Kaggle retail dataset (2021) by Dr. Omar Romero-Hernandez. With rich behavioral and transactional features — similar structure to real-world retail loyalty programs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457200" y="667375"/>
            <a:ext cx="3406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Dataset Selection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320015" y="1357815"/>
            <a:ext cx="2514600" cy="1965900"/>
          </a:xfrm>
          <a:prstGeom prst="rect">
            <a:avLst/>
          </a:prstGeom>
          <a:solidFill>
            <a:srgbClr val="18080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320015" y="1357815"/>
            <a:ext cx="2514600" cy="384000"/>
          </a:xfrm>
          <a:prstGeom prst="rect">
            <a:avLst/>
          </a:prstGeom>
          <a:solidFill>
            <a:srgbClr val="5C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393167" y="1357815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252"/>
              </a:buClr>
              <a:buSzPts val="1000"/>
              <a:buFont typeface="Calibri"/>
              <a:buNone/>
            </a:pPr>
            <a:r>
              <a:rPr b="1" i="0" lang="en" sz="1200" u="none" cap="none" strike="noStrike">
                <a:solidFill>
                  <a:srgbClr val="E05252"/>
                </a:solidFill>
                <a:latin typeface="Calibri"/>
                <a:ea typeface="Calibri"/>
                <a:cs typeface="Calibri"/>
                <a:sym typeface="Calibri"/>
              </a:rPr>
              <a:t>✗ Purchasing Behaviours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411455" y="1796727"/>
            <a:ext cx="23316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Insufficient transaction history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Too few observations per customer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Short data window limits prediction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3108935" y="1357815"/>
            <a:ext cx="2514600" cy="1965900"/>
          </a:xfrm>
          <a:prstGeom prst="rect">
            <a:avLst/>
          </a:prstGeom>
          <a:solidFill>
            <a:srgbClr val="18080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3108935" y="1357815"/>
            <a:ext cx="2514600" cy="384000"/>
          </a:xfrm>
          <a:prstGeom prst="rect">
            <a:avLst/>
          </a:prstGeom>
          <a:solidFill>
            <a:srgbClr val="5C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3182087" y="1357815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252"/>
              </a:buClr>
              <a:buSzPts val="1000"/>
              <a:buFont typeface="Calibri"/>
              <a:buNone/>
            </a:pPr>
            <a:r>
              <a:rPr b="1" i="0" lang="en" sz="1200" u="none" cap="none" strike="noStrike">
                <a:solidFill>
                  <a:srgbClr val="E05252"/>
                </a:solidFill>
                <a:latin typeface="Calibri"/>
                <a:ea typeface="Calibri"/>
                <a:cs typeface="Calibri"/>
                <a:sym typeface="Calibri"/>
              </a:rPr>
              <a:t>✗ Churn Prediction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3200375" y="1796727"/>
            <a:ext cx="23316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No loyalty/engagement variables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CLV cannot be truly modeled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Churn binary &amp; retrospective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5943575" y="1357815"/>
            <a:ext cx="2834700" cy="19659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943575" y="1357815"/>
            <a:ext cx="2834700" cy="384000"/>
          </a:xfrm>
          <a:prstGeom prst="rect">
            <a:avLst/>
          </a:prstGeom>
          <a:solidFill>
            <a:srgbClr val="1E6B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6016727" y="1357815"/>
            <a:ext cx="2697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000"/>
              <a:buFont typeface="Calibri"/>
              <a:buNone/>
            </a:pPr>
            <a:r>
              <a:rPr b="1" i="0" lang="en" sz="12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✓ Customer Personality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989275" y="1848300"/>
            <a:ext cx="2834700" cy="1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b="1" i="0" lang="en" sz="10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2,240 </a:t>
            </a:r>
            <a:r>
              <a:rPr b="0" i="0" lang="en" sz="10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customers · </a:t>
            </a:r>
            <a:r>
              <a:rPr b="1" i="0" lang="en" sz="10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r>
              <a:rPr b="0" i="0" lang="en" sz="10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 features</a:t>
            </a:r>
            <a:endParaRPr sz="1000">
              <a:solidFill>
                <a:srgbClr val="F4F9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b="1"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Categories</a:t>
            </a:r>
            <a:r>
              <a:rPr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: Wines, Meat, Fish, Fruits, Sweets, Gold</a:t>
            </a:r>
            <a:endParaRPr sz="1000">
              <a:solidFill>
                <a:srgbClr val="F4F9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b="1"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Channels: </a:t>
            </a:r>
            <a:r>
              <a:rPr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Store, Web, Catalog, Deals</a:t>
            </a:r>
            <a:endParaRPr sz="1000">
              <a:solidFill>
                <a:srgbClr val="F4F9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5 marketing campaigns tracked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Similar structure to </a:t>
            </a:r>
            <a:r>
              <a:rPr b="1"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real-world retail stores </a:t>
            </a:r>
            <a:r>
              <a:rPr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(Kroger, Whole Foods, Target, etc.)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Enables segmentation, CLV &amp; churn</a:t>
            </a:r>
            <a:endParaRPr sz="1000">
              <a:solidFill>
                <a:srgbClr val="F4F9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457200" y="340156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Data Cleaning &amp; Feature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320040" y="3749040"/>
            <a:ext cx="1572768" cy="105156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320040" y="3749040"/>
            <a:ext cx="1572768" cy="9144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374904" y="3858768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374904" y="4151376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Replaced 24 missing Income values with median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2039112" y="3749040"/>
            <a:ext cx="1572768" cy="105156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2039112" y="3749040"/>
            <a:ext cx="1572768" cy="9144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2093976" y="3858768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Outlier Removal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2093976" y="4151376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Flagged income &gt;$500K; 3 customers age 100+ flagged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3758184" y="3749040"/>
            <a:ext cx="1572768" cy="105156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3758184" y="3749040"/>
            <a:ext cx="1572768" cy="9144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3813048" y="3858768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Standardization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3813048" y="4151376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Education: relabeled to HS / Bachelors / Masters / PhD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477256" y="3749040"/>
            <a:ext cx="1572768" cy="105156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477256" y="3749040"/>
            <a:ext cx="1572768" cy="9144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532120" y="3858768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Dropped Columns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532120" y="4151376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Removed constant cols: Z_CostContact, Z_Revenue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7196328" y="3749040"/>
            <a:ext cx="1572768" cy="105156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7196328" y="3749040"/>
            <a:ext cx="1572768" cy="9144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7251192" y="3858768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New 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7251192" y="4151376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Total_spent, Frequency, Age, Tenure, Web Conv. Rate, Total Children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/>
          <p:nvPr/>
        </p:nvSpPr>
        <p:spPr>
          <a:xfrm>
            <a:off x="397950" y="9857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900"/>
              <a:buFont typeface="Calibri"/>
              <a:buNone/>
            </a:pPr>
            <a:r>
              <a:rPr b="1" lang="en" sz="1100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Understanding who our customers are before building any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397950" y="354601"/>
            <a:ext cx="822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Customer Demographics &amp; Spending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94750" y="1015703"/>
            <a:ext cx="1332300" cy="9180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993" rotWithShape="0" algn="bl" dir="8100000" dist="38247">
              <a:srgbClr val="000000">
                <a:alpha val="25098"/>
              </a:srgbClr>
            </a:outerShdw>
          </a:effectLst>
        </p:spPr>
        <p:txBody>
          <a:bodyPr anchorCtr="0" anchor="ctr" bIns="91775" lIns="91775" spcFirstLastPara="1" rIns="91775" wrap="square" tIns="91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94750" y="1015703"/>
            <a:ext cx="1332300" cy="9180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775" lIns="91775" spcFirstLastPara="1" rIns="91775" wrap="square" tIns="91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94750" y="1125854"/>
            <a:ext cx="1332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75" lIns="91775" spcFirstLastPara="1" rIns="91775" wrap="square" tIns="45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2209"/>
              <a:buFont typeface="Calibri"/>
              <a:buNone/>
            </a:pPr>
            <a:r>
              <a:rPr b="1" i="0" lang="en" sz="2209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 b="0" i="0" sz="22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94750" y="1612356"/>
            <a:ext cx="13323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75" lIns="91775" spcFirstLastPara="1" rIns="91775" wrap="square" tIns="45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4"/>
              <a:buFont typeface="Calibri"/>
              <a:buNone/>
            </a:pPr>
            <a:r>
              <a:rPr b="0" i="0" lang="en" sz="954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Median Age</a:t>
            </a:r>
            <a:endParaRPr b="0" i="0" sz="9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1596188" y="1015703"/>
            <a:ext cx="1332300" cy="9180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993" rotWithShape="0" algn="bl" dir="8100000" dist="38247">
              <a:srgbClr val="000000">
                <a:alpha val="25098"/>
              </a:srgbClr>
            </a:outerShdw>
          </a:effectLst>
        </p:spPr>
        <p:txBody>
          <a:bodyPr anchorCtr="0" anchor="ctr" bIns="91775" lIns="91775" spcFirstLastPara="1" rIns="91775" wrap="square" tIns="91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1596188" y="1015703"/>
            <a:ext cx="1332300" cy="9180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775" lIns="91775" spcFirstLastPara="1" rIns="91775" wrap="square" tIns="91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1596188" y="1125854"/>
            <a:ext cx="1332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75" lIns="91775" spcFirstLastPara="1" rIns="91775" wrap="square" tIns="45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2209"/>
              <a:buFont typeface="Calibri"/>
              <a:buNone/>
            </a:pPr>
            <a:r>
              <a:rPr b="1" i="0" lang="en" sz="2209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$51,382</a:t>
            </a:r>
            <a:endParaRPr b="0" i="0" sz="22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1596188" y="1612356"/>
            <a:ext cx="13323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75" lIns="91775" spcFirstLastPara="1" rIns="91775" wrap="square" tIns="45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4"/>
              <a:buFont typeface="Calibri"/>
              <a:buNone/>
            </a:pPr>
            <a:r>
              <a:rPr b="0" i="0" lang="en" sz="954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Median Income</a:t>
            </a:r>
            <a:endParaRPr b="0" i="0" sz="9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3097626" y="1015703"/>
            <a:ext cx="1332300" cy="9180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993" rotWithShape="0" algn="bl" dir="8100000" dist="38247">
              <a:srgbClr val="000000">
                <a:alpha val="25098"/>
              </a:srgbClr>
            </a:outerShdw>
          </a:effectLst>
        </p:spPr>
        <p:txBody>
          <a:bodyPr anchorCtr="0" anchor="ctr" bIns="91775" lIns="91775" spcFirstLastPara="1" rIns="91775" wrap="square" tIns="91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3097626" y="1015703"/>
            <a:ext cx="1332300" cy="9180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775" lIns="91775" spcFirstLastPara="1" rIns="91775" wrap="square" tIns="91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3097626" y="1125854"/>
            <a:ext cx="1332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75" lIns="91775" spcFirstLastPara="1" rIns="91775" wrap="square" tIns="45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2209"/>
              <a:buFont typeface="Calibri"/>
              <a:buNone/>
            </a:pPr>
            <a:r>
              <a:rPr b="1" i="0" lang="en" sz="2209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38.6%</a:t>
            </a:r>
            <a:endParaRPr b="0" i="0" sz="22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3097626" y="1612356"/>
            <a:ext cx="13323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75" lIns="91775" spcFirstLastPara="1" rIns="91775" wrap="square" tIns="45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4"/>
              <a:buFont typeface="Calibri"/>
              <a:buNone/>
            </a:pPr>
            <a:r>
              <a:rPr b="0" i="0" lang="en" sz="954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Married</a:t>
            </a:r>
            <a:endParaRPr b="0" i="0" sz="9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4599065" y="1015703"/>
            <a:ext cx="1332300" cy="9180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993" rotWithShape="0" algn="bl" dir="8100000" dist="38247">
              <a:srgbClr val="000000">
                <a:alpha val="25098"/>
              </a:srgbClr>
            </a:outerShdw>
          </a:effectLst>
        </p:spPr>
        <p:txBody>
          <a:bodyPr anchorCtr="0" anchor="ctr" bIns="91775" lIns="91775" spcFirstLastPara="1" rIns="91775" wrap="square" tIns="91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4599065" y="1015703"/>
            <a:ext cx="1332300" cy="9180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775" lIns="91775" spcFirstLastPara="1" rIns="91775" wrap="square" tIns="91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4599065" y="1125854"/>
            <a:ext cx="1332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75" lIns="91775" spcFirstLastPara="1" rIns="91775" wrap="square" tIns="45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2209"/>
              <a:buFont typeface="Calibri"/>
              <a:buNone/>
            </a:pPr>
            <a:r>
              <a:rPr b="1" i="0" lang="en" sz="2209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71.5%</a:t>
            </a:r>
            <a:endParaRPr b="0" i="0" sz="22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4599065" y="1612356"/>
            <a:ext cx="13323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75" lIns="91775" spcFirstLastPara="1" rIns="91775" wrap="square" tIns="45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4"/>
              <a:buFont typeface="Calibri"/>
              <a:buNone/>
            </a:pPr>
            <a:r>
              <a:rPr b="0" i="0" lang="en" sz="954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Have Children</a:t>
            </a:r>
            <a:endParaRPr b="0" i="0" sz="9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6100503" y="1015703"/>
            <a:ext cx="1332300" cy="9180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993" rotWithShape="0" algn="bl" dir="8100000" dist="38247">
              <a:srgbClr val="000000">
                <a:alpha val="25098"/>
              </a:srgbClr>
            </a:outerShdw>
          </a:effectLst>
        </p:spPr>
        <p:txBody>
          <a:bodyPr anchorCtr="0" anchor="ctr" bIns="91775" lIns="91775" spcFirstLastPara="1" rIns="91775" wrap="square" tIns="91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6100503" y="1015703"/>
            <a:ext cx="1332300" cy="9180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775" lIns="91775" spcFirstLastPara="1" rIns="91775" wrap="square" tIns="91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6100503" y="1125854"/>
            <a:ext cx="1332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75" lIns="91775" spcFirstLastPara="1" rIns="91775" wrap="square" tIns="45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2209"/>
              <a:buFont typeface="Calibri"/>
              <a:buNone/>
            </a:pPr>
            <a:r>
              <a:rPr b="1" i="0" lang="en" sz="2209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$3</a:t>
            </a:r>
            <a:r>
              <a:rPr b="1" lang="en" sz="2209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" sz="2209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1" lang="en" sz="2209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b="0" i="0" sz="22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6100503" y="1612356"/>
            <a:ext cx="13323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75" lIns="91775" spcFirstLastPara="1" rIns="91775" wrap="square" tIns="45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4"/>
              <a:buFont typeface="Calibri"/>
              <a:buNone/>
            </a:pPr>
            <a:r>
              <a:rPr b="0" i="0" lang="en" sz="954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Avg Basket Size</a:t>
            </a:r>
            <a:endParaRPr b="0" i="0" sz="9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7582597" y="1005825"/>
            <a:ext cx="1332300" cy="9180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993" rotWithShape="0" algn="bl" dir="8100000" dist="38247">
              <a:srgbClr val="000000">
                <a:alpha val="25099"/>
              </a:srgbClr>
            </a:outerShdw>
          </a:effectLst>
        </p:spPr>
        <p:txBody>
          <a:bodyPr anchorCtr="0" anchor="ctr" bIns="91775" lIns="91775" spcFirstLastPara="1" rIns="91775" wrap="square" tIns="91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7582597" y="1005825"/>
            <a:ext cx="1332300" cy="9180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775" lIns="91775" spcFirstLastPara="1" rIns="91775" wrap="square" tIns="91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7582597" y="1115976"/>
            <a:ext cx="1332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75" lIns="91775" spcFirstLastPara="1" rIns="91775" wrap="square" tIns="45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2209"/>
              <a:buFont typeface="Calibri"/>
              <a:buNone/>
            </a:pPr>
            <a:r>
              <a:rPr b="1" i="0" lang="en" sz="2209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$3</a:t>
            </a:r>
            <a:r>
              <a:rPr b="1" lang="en" sz="2209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 b="0" i="0" sz="22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7582597" y="1602479"/>
            <a:ext cx="13323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875" lIns="91775" spcFirstLastPara="1" rIns="91775" wrap="square" tIns="45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4"/>
              <a:buFont typeface="Calibri"/>
              <a:buNone/>
            </a:pPr>
            <a:r>
              <a:rPr lang="en" sz="954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Median Spend</a:t>
            </a:r>
            <a:endParaRPr b="0" i="0" sz="9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5975" y="2064400"/>
            <a:ext cx="3143773" cy="31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86100"/>
            <a:ext cx="5070076" cy="290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/>
          <p:nvPr/>
        </p:nvSpPr>
        <p:spPr>
          <a:xfrm>
            <a:off x="2440000" y="1178450"/>
            <a:ext cx="6466200" cy="36405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2440125" y="1178450"/>
            <a:ext cx="6466200" cy="36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3DAA6A"/>
                </a:solidFill>
              </a:rPr>
              <a:t>Summary</a:t>
            </a:r>
            <a:endParaRPr b="1">
              <a:solidFill>
                <a:srgbClr val="3DAA6A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F4F9F5"/>
              </a:buClr>
              <a:buSzPts val="1100"/>
              <a:buChar char="●"/>
            </a:pPr>
            <a:r>
              <a:rPr lang="en" sz="1100">
                <a:solidFill>
                  <a:srgbClr val="F4F9F5"/>
                </a:solidFill>
              </a:rPr>
              <a:t>Group customers into </a:t>
            </a:r>
            <a:r>
              <a:rPr b="1" lang="en" sz="1100">
                <a:solidFill>
                  <a:srgbClr val="F4F9F5"/>
                </a:solidFill>
              </a:rPr>
              <a:t>4 distinct segments </a:t>
            </a:r>
            <a:r>
              <a:rPr lang="en" sz="1100">
                <a:solidFill>
                  <a:srgbClr val="F4F9F5"/>
                </a:solidFill>
              </a:rPr>
              <a:t>based on </a:t>
            </a:r>
            <a:r>
              <a:rPr b="1" lang="en" sz="1100">
                <a:solidFill>
                  <a:srgbClr val="F4F9F5"/>
                </a:solidFill>
              </a:rPr>
              <a:t>Recency, Frequency, and Total Spend</a:t>
            </a:r>
            <a:r>
              <a:rPr lang="en" sz="1100">
                <a:solidFill>
                  <a:srgbClr val="F4F9F5"/>
                </a:solidFill>
              </a:rPr>
              <a:t> (RFM), identifying who is most valuable, most active, and most at risk.</a:t>
            </a:r>
            <a:endParaRPr sz="1100">
              <a:solidFill>
                <a:srgbClr val="F4F9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4F9F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4F9F5"/>
              </a:buClr>
              <a:buSzPts val="1100"/>
              <a:buChar char="●"/>
            </a:pPr>
            <a:r>
              <a:rPr b="1" lang="en" sz="1100">
                <a:solidFill>
                  <a:srgbClr val="F4F9F5"/>
                </a:solidFill>
              </a:rPr>
              <a:t>Target each group with the right strategy</a:t>
            </a:r>
            <a:r>
              <a:rPr lang="en" sz="1100">
                <a:solidFill>
                  <a:srgbClr val="F4F9F5"/>
                </a:solidFill>
              </a:rPr>
              <a:t>, instead of a one-size-fits-all approach.</a:t>
            </a:r>
            <a:endParaRPr sz="1100">
              <a:solidFill>
                <a:srgbClr val="F4F9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4F9F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4F9F5"/>
              </a:buClr>
              <a:buSzPts val="1100"/>
              <a:buChar char="●"/>
            </a:pPr>
            <a:r>
              <a:rPr b="1" lang="en" sz="1100">
                <a:solidFill>
                  <a:srgbClr val="F4F9F5"/>
                </a:solidFill>
              </a:rPr>
              <a:t>K-Means</a:t>
            </a:r>
            <a:r>
              <a:rPr lang="en" sz="1100">
                <a:solidFill>
                  <a:srgbClr val="F4F9F5"/>
                </a:solidFill>
              </a:rPr>
              <a:t> is a clustering algorithm that groups customers into segments based on similar behavior.</a:t>
            </a:r>
            <a:endParaRPr sz="1100">
              <a:solidFill>
                <a:srgbClr val="F4F9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4F9F5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4F9F5"/>
              </a:buClr>
              <a:buSzPts val="1100"/>
              <a:buChar char="●"/>
            </a:pPr>
            <a:r>
              <a:rPr b="1" lang="en" sz="1100">
                <a:solidFill>
                  <a:srgbClr val="F4F9F5"/>
                </a:solidFill>
              </a:rPr>
              <a:t>Segments:</a:t>
            </a:r>
            <a:endParaRPr b="1" sz="1100">
              <a:solidFill>
                <a:srgbClr val="F4F9F5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100"/>
              <a:buChar char="○"/>
            </a:pPr>
            <a:r>
              <a:rPr b="1" lang="en" sz="1100">
                <a:solidFill>
                  <a:srgbClr val="F4F9F5"/>
                </a:solidFill>
              </a:rPr>
              <a:t>High-Value:</a:t>
            </a:r>
            <a:r>
              <a:rPr lang="en" sz="1100">
                <a:solidFill>
                  <a:srgbClr val="F4F9F5"/>
                </a:solidFill>
              </a:rPr>
              <a:t> High Frequency | High Spend | Low Recency</a:t>
            </a:r>
            <a:endParaRPr sz="1100">
              <a:solidFill>
                <a:srgbClr val="F4F9F5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100"/>
              <a:buChar char="○"/>
            </a:pPr>
            <a:r>
              <a:rPr b="1" lang="en" sz="1100">
                <a:solidFill>
                  <a:srgbClr val="F4F9F5"/>
                </a:solidFill>
              </a:rPr>
              <a:t>Regular:</a:t>
            </a:r>
            <a:r>
              <a:rPr lang="en" sz="1100">
                <a:solidFill>
                  <a:srgbClr val="F4F9F5"/>
                </a:solidFill>
              </a:rPr>
              <a:t> High Frequency | High Spend | High Recency</a:t>
            </a:r>
            <a:endParaRPr sz="1100">
              <a:solidFill>
                <a:srgbClr val="F4F9F5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100"/>
              <a:buChar char="○"/>
            </a:pPr>
            <a:r>
              <a:rPr b="1" lang="en" sz="1100">
                <a:solidFill>
                  <a:srgbClr val="F4F9F5"/>
                </a:solidFill>
              </a:rPr>
              <a:t>Occasional</a:t>
            </a:r>
            <a:r>
              <a:rPr lang="en" sz="1100">
                <a:solidFill>
                  <a:srgbClr val="F4F9F5"/>
                </a:solidFill>
              </a:rPr>
              <a:t>: Low Frequency | Low Spend | Low Recency</a:t>
            </a:r>
            <a:endParaRPr sz="1100">
              <a:solidFill>
                <a:srgbClr val="F4F9F5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100"/>
              <a:buChar char="○"/>
            </a:pPr>
            <a:r>
              <a:rPr b="1" lang="en" sz="1100">
                <a:solidFill>
                  <a:srgbClr val="F4F9F5"/>
                </a:solidFill>
              </a:rPr>
              <a:t>At Risk:</a:t>
            </a:r>
            <a:r>
              <a:rPr lang="en" sz="1100">
                <a:solidFill>
                  <a:srgbClr val="F4F9F5"/>
                </a:solidFill>
              </a:rPr>
              <a:t> Low Frequency | Low Spend | High Recency</a:t>
            </a:r>
            <a:endParaRPr sz="1100">
              <a:solidFill>
                <a:srgbClr val="F4F9F5"/>
              </a:solidFill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457200" y="512064"/>
            <a:ext cx="822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Customer Segmentation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365750" y="1228375"/>
            <a:ext cx="1920300" cy="35907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365760" y="3106043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Segment Customers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20" title="market-seg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1550" y="2557400"/>
            <a:ext cx="548625" cy="54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/>
        </p:nvSpPr>
        <p:spPr>
          <a:xfrm>
            <a:off x="6345125" y="1396625"/>
            <a:ext cx="2478900" cy="23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Insights: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High Value</a:t>
            </a:r>
            <a:r>
              <a:rPr b="1" lang="e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lang="en" sz="1000">
                <a:solidFill>
                  <a:srgbClr val="2EB872"/>
                </a:solidFill>
                <a:latin typeface="Calibri"/>
                <a:ea typeface="Calibri"/>
                <a:cs typeface="Calibri"/>
                <a:sym typeface="Calibri"/>
              </a:rPr>
              <a:t>Regular</a:t>
            </a:r>
            <a:r>
              <a:rPr b="1" lang="e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lang="en" sz="1000">
                <a:solidFill>
                  <a:srgbClr val="E05252"/>
                </a:solidFill>
                <a:latin typeface="Calibri"/>
                <a:ea typeface="Calibri"/>
                <a:cs typeface="Calibri"/>
                <a:sym typeface="Calibri"/>
              </a:rPr>
              <a:t>Occasional</a:t>
            </a:r>
            <a:r>
              <a:rPr b="1" lang="e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lang="en" sz="1000">
                <a:solidFill>
                  <a:srgbClr val="8E7CC3"/>
                </a:solidFill>
                <a:latin typeface="Calibri"/>
                <a:ea typeface="Calibri"/>
                <a:cs typeface="Calibri"/>
                <a:sym typeface="Calibri"/>
              </a:rPr>
              <a:t>At Risk</a:t>
            </a:r>
            <a:endParaRPr b="1" sz="1000">
              <a:solidFill>
                <a:srgbClr val="8E7CC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four clusters are relatively </a:t>
            </a:r>
            <a:r>
              <a:rPr b="1"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evenly distributed</a:t>
            </a: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across the customer base.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b="1"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Regular and At-Risk</a:t>
            </a: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customers show higher churn risk, mainly driven by </a:t>
            </a:r>
            <a:r>
              <a:rPr b="1"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recency.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b="1"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Regular and High-Value </a:t>
            </a: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customers show the strongest </a:t>
            </a:r>
            <a:r>
              <a:rPr b="1"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spend and purchase frequency.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74325" y="1042425"/>
            <a:ext cx="8517300" cy="2925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457200" y="256025"/>
            <a:ext cx="539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900"/>
              <a:buFont typeface="Calibri"/>
              <a:buNone/>
            </a:pPr>
            <a:r>
              <a:rPr b="1" lang="en" sz="1100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Grouping customers by behavior to enable targeted loyalty strategies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K-Means Clustering: Approach &amp; Validation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274326" y="3767350"/>
            <a:ext cx="4251900" cy="11157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274320" y="3767347"/>
            <a:ext cx="54900" cy="111570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388213" y="3813070"/>
            <a:ext cx="410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Feature Selection: Recency, Frequency,</a:t>
            </a:r>
            <a:endParaRPr b="1" sz="1100">
              <a:solidFill>
                <a:srgbClr val="F5C8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Total Spend (RFM)</a:t>
            </a:r>
            <a:endParaRPr b="0" i="0" sz="1100" u="none" cap="none" strike="noStrike">
              <a:solidFill>
                <a:srgbClr val="F5C8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388213" y="4105680"/>
            <a:ext cx="4100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It is a simple and widely used retail framework to understand customer value and behavior.</a:t>
            </a:r>
            <a:endParaRPr sz="1000">
              <a:solidFill>
                <a:srgbClr val="F4F9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RFM are strong indicators of customer engagement, loyalty, and profitability.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4571999" y="3767350"/>
            <a:ext cx="4251900" cy="11157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4572002" y="3767350"/>
            <a:ext cx="45600" cy="111570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4617607" y="3813072"/>
            <a:ext cx="474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K-Means Clustering into 4 Segments</a:t>
            </a:r>
            <a:endParaRPr b="1" sz="1100">
              <a:solidFill>
                <a:srgbClr val="F5C8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4572001" y="4079525"/>
            <a:ext cx="4179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It created meaningful, actionable, and business-relevant customer segments.</a:t>
            </a:r>
            <a:endParaRPr sz="1000">
              <a:solidFill>
                <a:srgbClr val="F4F9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In retail, segmentation is most useful when groups are clear and actionable, rather than overly complex.</a:t>
            </a:r>
            <a:endParaRPr sz="1000">
              <a:solidFill>
                <a:srgbClr val="F4F9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Higher K values created groups that were too similar to each other</a:t>
            </a:r>
            <a:endParaRPr sz="1000">
              <a:solidFill>
                <a:srgbClr val="F4F9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329225" y="1042425"/>
            <a:ext cx="846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100"/>
              <a:buFont typeface="Calibri"/>
              <a:buNone/>
            </a:pPr>
            <a:r>
              <a:rPr b="1"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Customer Segment Distribution by RFM Behavior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0" name="Google Shape;240;p21"/>
          <p:cNvGrpSpPr/>
          <p:nvPr/>
        </p:nvGrpSpPr>
        <p:grpSpPr>
          <a:xfrm>
            <a:off x="329214" y="1396625"/>
            <a:ext cx="2913856" cy="2263025"/>
            <a:chOff x="1173339" y="1365775"/>
            <a:chExt cx="2913856" cy="2263025"/>
          </a:xfrm>
        </p:grpSpPr>
        <p:pic>
          <p:nvPicPr>
            <p:cNvPr id="241" name="Google Shape;24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73339" y="1365775"/>
              <a:ext cx="2913856" cy="2263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1"/>
            <p:cNvSpPr/>
            <p:nvPr/>
          </p:nvSpPr>
          <p:spPr>
            <a:xfrm>
              <a:off x="3666950" y="1512150"/>
              <a:ext cx="373500" cy="580500"/>
            </a:xfrm>
            <a:prstGeom prst="rect">
              <a:avLst/>
            </a:prstGeom>
            <a:solidFill>
              <a:srgbClr val="1C1C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3" name="Google Shape;243;p21"/>
          <p:cNvGrpSpPr/>
          <p:nvPr/>
        </p:nvGrpSpPr>
        <p:grpSpPr>
          <a:xfrm>
            <a:off x="3399387" y="1396627"/>
            <a:ext cx="2913850" cy="2262998"/>
            <a:chOff x="5204587" y="1396627"/>
            <a:chExt cx="2913850" cy="2262998"/>
          </a:xfrm>
        </p:grpSpPr>
        <p:pic>
          <p:nvPicPr>
            <p:cNvPr id="244" name="Google Shape;244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204587" y="1396627"/>
              <a:ext cx="2913850" cy="2262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1"/>
            <p:cNvSpPr/>
            <p:nvPr/>
          </p:nvSpPr>
          <p:spPr>
            <a:xfrm>
              <a:off x="5531625" y="1591550"/>
              <a:ext cx="333000" cy="580500"/>
            </a:xfrm>
            <a:prstGeom prst="rect">
              <a:avLst/>
            </a:prstGeom>
            <a:solidFill>
              <a:srgbClr val="1C1C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/>
          <p:nvPr/>
        </p:nvSpPr>
        <p:spPr>
          <a:xfrm>
            <a:off x="457200" y="25603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900"/>
              <a:buFont typeface="Calibri"/>
              <a:buNone/>
            </a:pPr>
            <a:r>
              <a:rPr b="1" lang="en" sz="1100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Four distinct customer segments — each with a clear profile, behavior pattern, and loyalty 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457200" y="512064"/>
            <a:ext cx="822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K-Means Clustering — 4 Customer Segments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246888" y="1234440"/>
            <a:ext cx="1965900" cy="35205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2423160" y="1234440"/>
            <a:ext cx="1965900" cy="35205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2423160" y="1234440"/>
            <a:ext cx="196590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2478024" y="1234440"/>
            <a:ext cx="185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Regular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2496312" y="2271003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Avg Spend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3310080" y="2270988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$1,158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2496325" y="2968883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3310080" y="2945675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22 purchases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2496287" y="3342139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Recency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3265680" y="3342113"/>
            <a:ext cx="105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73 days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2496312" y="3666694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Income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3319280" y="3666750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$69K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2496287" y="4306812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Median 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3310081" y="4306800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59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246907" y="1234440"/>
            <a:ext cx="1965900" cy="35205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246907" y="1234440"/>
            <a:ext cx="1965900" cy="45720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301771" y="1234440"/>
            <a:ext cx="185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 Value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1458555" y="2272313"/>
            <a:ext cx="69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$1,114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1296105" y="2968850"/>
            <a:ext cx="88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22 purchases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1325955" y="3319450"/>
            <a:ext cx="82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23 days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1458556" y="3666750"/>
            <a:ext cx="69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$69K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1477606" y="4306800"/>
            <a:ext cx="652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58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6775704" y="1234440"/>
            <a:ext cx="1965900" cy="35205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6775704" y="1234440"/>
            <a:ext cx="1965900" cy="4572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6830568" y="1234440"/>
            <a:ext cx="185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8220479" y="2272300"/>
            <a:ext cx="457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$139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7863874" y="2957075"/>
            <a:ext cx="88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9 purchases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8006404" y="3317325"/>
            <a:ext cx="69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75 days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8025454" y="3666750"/>
            <a:ext cx="652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$37K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8220429" y="4306800"/>
            <a:ext cx="457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2496287" y="3990044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Categories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2496325" y="2648840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Sales Channel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3493076" y="2648838"/>
            <a:ext cx="82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3493076" y="3990038"/>
            <a:ext cx="82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Wines, Meat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320074" y="2271003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Avg Spend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320062" y="2968858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320049" y="3342139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Recency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320074" y="3666694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Income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320049" y="4306812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Median 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320049" y="3990044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Categories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320087" y="2648840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Sales Channel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1306899" y="3990050"/>
            <a:ext cx="82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Wines, Meat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1296101" y="2648838"/>
            <a:ext cx="82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6889949" y="2246178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Avg Spend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6889937" y="2944033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6889924" y="3317314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Recency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6889949" y="3641869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Income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6889924" y="4281987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Median 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6889924" y="3965219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Categories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6889962" y="2624015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Sales Channel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7671776" y="3990025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Wines, Meat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8138254" y="2624025"/>
            <a:ext cx="457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2459715" y="1906515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Cluster Size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340590" y="1906515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Cluster Size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6857977" y="1894115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Cluster Size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3468328" y="1906550"/>
            <a:ext cx="82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558 (25%)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1287878" y="1906550"/>
            <a:ext cx="82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497 (22%)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7940103" y="1906538"/>
            <a:ext cx="82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580 (26%)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4599388" y="1234440"/>
            <a:ext cx="1965900" cy="35205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4599388" y="1234440"/>
            <a:ext cx="1965900" cy="457200"/>
          </a:xfrm>
          <a:prstGeom prst="rect">
            <a:avLst/>
          </a:prstGeom>
          <a:solidFill>
            <a:srgbClr val="2E8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"/>
          <p:cNvSpPr/>
          <p:nvPr/>
        </p:nvSpPr>
        <p:spPr>
          <a:xfrm>
            <a:off x="4654252" y="1234440"/>
            <a:ext cx="185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Occasional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4672540" y="2272278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Avg Spend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5839993" y="2272300"/>
            <a:ext cx="652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$127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4672540" y="2969496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5669295" y="2969525"/>
            <a:ext cx="82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9 purchases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4672465" y="3342151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Recency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5840094" y="3289550"/>
            <a:ext cx="652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25 days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4672540" y="3666744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Income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5913143" y="3666750"/>
            <a:ext cx="652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$36K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4672465" y="4306812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Median 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5839993" y="4306800"/>
            <a:ext cx="652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4672465" y="2648828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Sales Channel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5541104" y="3990025"/>
            <a:ext cx="951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Wines, Meat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4672465" y="3990019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Categories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5840006" y="2648825"/>
            <a:ext cx="652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4672503" y="1906540"/>
            <a:ext cx="100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Cluster Size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5648752" y="1906550"/>
            <a:ext cx="822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None/>
            </a:pPr>
            <a:r>
              <a:rPr b="1" lang="en" sz="95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605 (27%)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"/>
          <p:cNvSpPr/>
          <p:nvPr/>
        </p:nvSpPr>
        <p:spPr>
          <a:xfrm>
            <a:off x="4389125" y="1199050"/>
            <a:ext cx="4480500" cy="1828800"/>
          </a:xfrm>
          <a:prstGeom prst="rect">
            <a:avLst/>
          </a:prstGeom>
          <a:solidFill>
            <a:srgbClr val="0E3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6" name="Google Shape;336;p23"/>
          <p:cNvPicPr preferRelativeResize="0"/>
          <p:nvPr/>
        </p:nvPicPr>
        <p:blipFill rotWithShape="1">
          <a:blip r:embed="rId3">
            <a:alphaModFix/>
          </a:blip>
          <a:srcRect b="0" l="0" r="0" t="14244"/>
          <a:stretch/>
        </p:blipFill>
        <p:spPr>
          <a:xfrm>
            <a:off x="4443975" y="1603875"/>
            <a:ext cx="4366403" cy="124874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3"/>
          <p:cNvSpPr/>
          <p:nvPr/>
        </p:nvSpPr>
        <p:spPr>
          <a:xfrm>
            <a:off x="2995329" y="4490945"/>
            <a:ext cx="906300" cy="210900"/>
          </a:xfrm>
          <a:prstGeom prst="rect">
            <a:avLst/>
          </a:prstGeom>
          <a:solidFill>
            <a:srgbClr val="F16969"/>
          </a:solidFill>
          <a:ln>
            <a:noFill/>
          </a:ln>
        </p:spPr>
        <p:txBody>
          <a:bodyPr anchorCtr="0" anchor="ctr" bIns="42150" lIns="42150" spcFirstLastPara="1" rIns="42150" wrap="square" tIns="42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3"/>
          <p:cNvSpPr/>
          <p:nvPr/>
        </p:nvSpPr>
        <p:spPr>
          <a:xfrm>
            <a:off x="2089029" y="4490945"/>
            <a:ext cx="906300" cy="210900"/>
          </a:xfrm>
          <a:prstGeom prst="rect">
            <a:avLst/>
          </a:prstGeom>
          <a:solidFill>
            <a:srgbClr val="4C9CC1"/>
          </a:solidFill>
          <a:ln>
            <a:noFill/>
          </a:ln>
        </p:spPr>
        <p:txBody>
          <a:bodyPr anchorCtr="0" anchor="ctr" bIns="42150" lIns="42150" spcFirstLastPara="1" rIns="42150" wrap="square" tIns="42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3020622" y="4490945"/>
            <a:ext cx="8556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75" lIns="42150" spcFirstLastPara="1" rIns="42150" wrap="square" tIns="21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1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2114322" y="4490945"/>
            <a:ext cx="8556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75" lIns="42150" spcFirstLastPara="1" rIns="42150" wrap="square" tIns="21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1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Occasional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1182829" y="4490945"/>
            <a:ext cx="906300" cy="21090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txBody>
          <a:bodyPr anchorCtr="0" anchor="ctr" bIns="42150" lIns="42150" spcFirstLastPara="1" rIns="42150" wrap="square" tIns="42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3"/>
          <p:cNvSpPr/>
          <p:nvPr/>
        </p:nvSpPr>
        <p:spPr>
          <a:xfrm>
            <a:off x="1208122" y="4490945"/>
            <a:ext cx="8556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75" lIns="42150" spcFirstLastPara="1" rIns="42150" wrap="square" tIns="21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1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Regular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276525" y="1199050"/>
            <a:ext cx="3931800" cy="3291900"/>
          </a:xfrm>
          <a:prstGeom prst="rect">
            <a:avLst/>
          </a:prstGeom>
          <a:solidFill>
            <a:srgbClr val="0E3D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3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CUSTOMER SEGMENTATION — INSIGHTS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Revenue Concentration &amp; Spending by Category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4389120" y="3182112"/>
            <a:ext cx="4480560" cy="1353312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3"/>
          <p:cNvSpPr/>
          <p:nvPr/>
        </p:nvSpPr>
        <p:spPr>
          <a:xfrm>
            <a:off x="4389120" y="3182112"/>
            <a:ext cx="54864" cy="1353312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3"/>
          <p:cNvSpPr/>
          <p:nvPr/>
        </p:nvSpPr>
        <p:spPr>
          <a:xfrm>
            <a:off x="4526280" y="3227832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Key Segmentation Findings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4526280" y="3511296"/>
            <a:ext cx="42519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b="1"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Revenue is highly concentrated</a:t>
            </a:r>
            <a:r>
              <a:rPr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 in the High Value and Regular segments, </a:t>
            </a:r>
            <a:r>
              <a:rPr b="1"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accounting for 90% of total revenue.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High Value and Regular customers show stronger </a:t>
            </a:r>
            <a:r>
              <a:rPr b="1"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campaign response </a:t>
            </a:r>
            <a:r>
              <a:rPr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rates, higher income, and greater total spend.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276525" y="1206675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100"/>
              <a:buFont typeface="Calibri"/>
              <a:buNone/>
            </a:pPr>
            <a:r>
              <a:rPr b="1"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Revenue Contribution by Segment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23"/>
          <p:cNvPicPr preferRelativeResize="0"/>
          <p:nvPr/>
        </p:nvPicPr>
        <p:blipFill rotWithShape="1">
          <a:blip r:embed="rId4">
            <a:alphaModFix/>
          </a:blip>
          <a:srcRect b="13028" l="0" r="0" t="0"/>
          <a:stretch/>
        </p:blipFill>
        <p:spPr>
          <a:xfrm>
            <a:off x="473725" y="1288275"/>
            <a:ext cx="3537400" cy="30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3"/>
          <p:cNvSpPr/>
          <p:nvPr/>
        </p:nvSpPr>
        <p:spPr>
          <a:xfrm>
            <a:off x="276529" y="4490945"/>
            <a:ext cx="906300" cy="21090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42150" lIns="42150" spcFirstLastPara="1" rIns="42150" wrap="square" tIns="42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3"/>
          <p:cNvSpPr/>
          <p:nvPr/>
        </p:nvSpPr>
        <p:spPr>
          <a:xfrm>
            <a:off x="301822" y="4490945"/>
            <a:ext cx="8556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075" lIns="42150" spcFirstLastPara="1" rIns="42150" wrap="square" tIns="21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1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 Value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4389125" y="1206675"/>
            <a:ext cx="4480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100"/>
              <a:buFont typeface="Calibri"/>
              <a:buNone/>
            </a:pPr>
            <a:r>
              <a:rPr b="1"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Offer Acceptance Rate by Segment (%)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4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CHURN PREDICTION — METHODOLOGY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4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Modeling Pipeline &amp; Design Decisions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365760" y="1188720"/>
            <a:ext cx="8412480" cy="530352"/>
          </a:xfrm>
          <a:prstGeom prst="rect">
            <a:avLst/>
          </a:prstGeom>
          <a:solidFill>
            <a:srgbClr val="1E6B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4"/>
          <p:cNvSpPr/>
          <p:nvPr/>
        </p:nvSpPr>
        <p:spPr>
          <a:xfrm>
            <a:off x="457200" y="1188720"/>
            <a:ext cx="822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Churn Definition: Binary label — Inactivity &gt; 80 days since last purchase (in</a:t>
            </a:r>
            <a:r>
              <a:rPr b="1" lang="en" sz="12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dustry standard for retail)</a:t>
            </a:r>
            <a:r>
              <a:rPr b="1" i="0" lang="en" sz="12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  |  Class balance checked before modeling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320040" y="1901952"/>
            <a:ext cx="2633472" cy="292608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4"/>
          <p:cNvSpPr/>
          <p:nvPr/>
        </p:nvSpPr>
        <p:spPr>
          <a:xfrm>
            <a:off x="320040" y="1901952"/>
            <a:ext cx="2633472" cy="438912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4"/>
          <p:cNvSpPr/>
          <p:nvPr/>
        </p:nvSpPr>
        <p:spPr>
          <a:xfrm>
            <a:off x="411480" y="1901952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A1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1A12"/>
                </a:solidFill>
                <a:latin typeface="Calibri"/>
                <a:ea typeface="Calibri"/>
                <a:cs typeface="Calibri"/>
                <a:sym typeface="Calibri"/>
              </a:rPr>
              <a:t>Data Preparation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411480" y="2395728"/>
            <a:ext cx="24688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Target: churn = 1 if Recency &gt; 80 days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Features: Recency, Frequency, Total Spend, Income, Age, Tenure, Campaign Acceptances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One-hot encoding for categorical variables (Education, Marital Status)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Median imputation for missing values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StandardScaler normalization on numeric features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80/20 train-test split (random_state=42)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3154680" y="1901952"/>
            <a:ext cx="2633472" cy="292608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4"/>
          <p:cNvSpPr/>
          <p:nvPr/>
        </p:nvSpPr>
        <p:spPr>
          <a:xfrm>
            <a:off x="3154680" y="1901952"/>
            <a:ext cx="2633472" cy="438912"/>
          </a:xfrm>
          <a:prstGeom prst="rect">
            <a:avLst/>
          </a:prstGeom>
          <a:solidFill>
            <a:srgbClr val="2E8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4"/>
          <p:cNvSpPr/>
          <p:nvPr/>
        </p:nvSpPr>
        <p:spPr>
          <a:xfrm>
            <a:off x="3246120" y="1901952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A1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1A12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4"/>
          <p:cNvSpPr/>
          <p:nvPr/>
        </p:nvSpPr>
        <p:spPr>
          <a:xfrm>
            <a:off x="3246120" y="2395728"/>
            <a:ext cx="24688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Pipeline: ColumnTransformer → LogisticRegression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Solver: liblinear (stable for smaller datasets)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Preprocessing: median imputation + StandardScaler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One-hot encoded features passed through as-is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random_state=42 for reproducibility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Provides probability scores for churn risk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4"/>
          <p:cNvSpPr/>
          <p:nvPr/>
        </p:nvSpPr>
        <p:spPr>
          <a:xfrm>
            <a:off x="5989320" y="1901952"/>
            <a:ext cx="2633472" cy="292608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4"/>
          <p:cNvSpPr/>
          <p:nvPr/>
        </p:nvSpPr>
        <p:spPr>
          <a:xfrm>
            <a:off x="5989320" y="1901952"/>
            <a:ext cx="2633472" cy="43891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4"/>
          <p:cNvSpPr/>
          <p:nvPr/>
        </p:nvSpPr>
        <p:spPr>
          <a:xfrm>
            <a:off x="6080760" y="1901952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A1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1A12"/>
                </a:solidFill>
                <a:latin typeface="Calibri"/>
                <a:ea typeface="Calibri"/>
                <a:cs typeface="Calibri"/>
                <a:sym typeface="Calibri"/>
              </a:rPr>
              <a:t>Random Forest Classifier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4"/>
          <p:cNvSpPr/>
          <p:nvPr/>
        </p:nvSpPr>
        <p:spPr>
          <a:xfrm>
            <a:off x="6080760" y="2395728"/>
            <a:ext cx="24688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Pipeline: same ColumnTransformer preprocessing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n_estimators=10 (ensemble of decision trees)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Captures non-linear relationships &amp; feature interactions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Handles feature importance natively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More robust to multicollinearity than LR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Selected as final model based on performance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5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CHURN PREDICTION —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5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Model Performance &amp; Predicted Churn by Segment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5"/>
          <p:cNvSpPr/>
          <p:nvPr/>
        </p:nvSpPr>
        <p:spPr>
          <a:xfrm>
            <a:off x="320040" y="4160520"/>
            <a:ext cx="8503920" cy="713232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5"/>
          <p:cNvSpPr/>
          <p:nvPr/>
        </p:nvSpPr>
        <p:spPr>
          <a:xfrm>
            <a:off x="320040" y="4160520"/>
            <a:ext cx="8503920" cy="713232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5"/>
          <p:cNvSpPr/>
          <p:nvPr/>
        </p:nvSpPr>
        <p:spPr>
          <a:xfrm>
            <a:off x="320040" y="4160520"/>
            <a:ext cx="8503920" cy="713232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5"/>
          <p:cNvSpPr/>
          <p:nvPr/>
        </p:nvSpPr>
        <p:spPr>
          <a:xfrm>
            <a:off x="320040" y="4160520"/>
            <a:ext cx="8503920" cy="713232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5"/>
          <p:cNvSpPr/>
          <p:nvPr/>
        </p:nvSpPr>
        <p:spPr>
          <a:xfrm>
            <a:off x="320040" y="4160520"/>
            <a:ext cx="8503920" cy="658368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5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Random Forest selected as final model: 99.7% accuracy, 100% precision, ROC AUC = 1.000 | Overall churn probability: 18.7% | At-Risk: 39.7% | Regular: 33.5%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50" y="1085950"/>
            <a:ext cx="8458199" cy="292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6"/>
          <p:cNvSpPr/>
          <p:nvPr/>
        </p:nvSpPr>
        <p:spPr>
          <a:xfrm>
            <a:off x="365750" y="1228375"/>
            <a:ext cx="1920300" cy="35907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6"/>
          <p:cNvSpPr/>
          <p:nvPr/>
        </p:nvSpPr>
        <p:spPr>
          <a:xfrm>
            <a:off x="457200" y="512064"/>
            <a:ext cx="822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Churn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6"/>
          <p:cNvSpPr/>
          <p:nvPr/>
        </p:nvSpPr>
        <p:spPr>
          <a:xfrm>
            <a:off x="365760" y="2212848"/>
            <a:ext cx="1920300" cy="26061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6"/>
          <p:cNvSpPr/>
          <p:nvPr/>
        </p:nvSpPr>
        <p:spPr>
          <a:xfrm>
            <a:off x="365762" y="2608330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Churn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6"/>
          <p:cNvSpPr/>
          <p:nvPr/>
        </p:nvSpPr>
        <p:spPr>
          <a:xfrm>
            <a:off x="457202" y="3019810"/>
            <a:ext cx="1737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Identify high- and low-value loyalty program members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6"/>
          <p:cNvSpPr/>
          <p:nvPr/>
        </p:nvSpPr>
        <p:spPr>
          <a:xfrm>
            <a:off x="2428200" y="1228250"/>
            <a:ext cx="6227100" cy="35907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1" name="Google Shape;401;p26" title="tr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313" y="2113262"/>
            <a:ext cx="495063" cy="495063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6"/>
          <p:cNvSpPr txBox="1"/>
          <p:nvPr/>
        </p:nvSpPr>
        <p:spPr>
          <a:xfrm>
            <a:off x="2515250" y="1228375"/>
            <a:ext cx="5935500" cy="36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DAA6A"/>
                </a:solidFill>
              </a:rPr>
              <a:t>What is Churn Prediction?</a:t>
            </a:r>
            <a:endParaRPr b="1" sz="1500">
              <a:solidFill>
                <a:srgbClr val="3DAA6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4F9F5"/>
                </a:solidFill>
              </a:rPr>
              <a:t>Identifying customers who are at risk of becoming inactive — defined as no purchase in 80+ days, consistent with retail industry benchmarks for churn detection.</a:t>
            </a:r>
            <a:endParaRPr sz="1100">
              <a:solidFill>
                <a:srgbClr val="F4F9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DAA6A"/>
                </a:solidFill>
              </a:rPr>
              <a:t>Goal — Random Forest Classifier</a:t>
            </a:r>
            <a:endParaRPr b="1" sz="1500">
              <a:solidFill>
                <a:srgbClr val="3DAA6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4F9F5"/>
                </a:solidFill>
              </a:rPr>
              <a:t>Predict each customer's churn probability (0 to 1) using behavioral features like recency, purchase frequency, income, and channel usage — enabling proactive retention before customers lapse.</a:t>
            </a:r>
            <a:endParaRPr sz="1100">
              <a:solidFill>
                <a:srgbClr val="F4F9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DAA6A"/>
                </a:solidFill>
              </a:rPr>
              <a:t>Key Finding</a:t>
            </a:r>
            <a:endParaRPr b="1" sz="1500">
              <a:solidFill>
                <a:srgbClr val="3DAA6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4F9F5"/>
                </a:solidFill>
              </a:rPr>
              <a:t>At-Risk segment carries 39% churn probability vs 0% for active segments. Regular customers at 33% — a segment that shops consistently but is showing signs of disengagement, making them a critical priority for retention efforts.</a:t>
            </a:r>
            <a:endParaRPr sz="1100">
              <a:solidFill>
                <a:srgbClr val="F4F9F5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7"/>
          <p:cNvSpPr/>
          <p:nvPr/>
        </p:nvSpPr>
        <p:spPr>
          <a:xfrm>
            <a:off x="365750" y="1228375"/>
            <a:ext cx="1920300" cy="35907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457200" y="25603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7"/>
          <p:cNvSpPr/>
          <p:nvPr/>
        </p:nvSpPr>
        <p:spPr>
          <a:xfrm>
            <a:off x="457200" y="512064"/>
            <a:ext cx="822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Customer Lifetime Value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7"/>
          <p:cNvSpPr/>
          <p:nvPr/>
        </p:nvSpPr>
        <p:spPr>
          <a:xfrm>
            <a:off x="365760" y="2212848"/>
            <a:ext cx="1920300" cy="26061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365762" y="2635105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Predict CLV</a:t>
            </a:r>
            <a:endParaRPr b="1" sz="1200">
              <a:solidFill>
                <a:srgbClr val="3DAA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457202" y="3046585"/>
            <a:ext cx="1737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Identify high- and low-value loyalty program members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7"/>
          <p:cNvSpPr/>
          <p:nvPr/>
        </p:nvSpPr>
        <p:spPr>
          <a:xfrm>
            <a:off x="2428200" y="1228250"/>
            <a:ext cx="6227100" cy="35907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DAA6A"/>
                </a:solidFill>
              </a:rPr>
              <a:t>What is CLV?</a:t>
            </a:r>
            <a:endParaRPr b="1" sz="1600">
              <a:solidFill>
                <a:srgbClr val="3DAA6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4F9F5"/>
                </a:solidFill>
              </a:rPr>
              <a:t>Customer Lifetime Value estimates how much revenue each customer generates per year: CLV = (Total Spend ÷ Days as Customer) × 365</a:t>
            </a:r>
            <a:endParaRPr sz="1100">
              <a:solidFill>
                <a:srgbClr val="F4F9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DAA6A"/>
                </a:solidFill>
              </a:rPr>
              <a:t>Why Random Forest Regression?</a:t>
            </a:r>
            <a:endParaRPr b="1" sz="1600">
              <a:solidFill>
                <a:srgbClr val="3DAA6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4F9F5"/>
                </a:solidFill>
              </a:rPr>
              <a:t>CLV relationships are non-linear — Random Forest captures complex patterns better than Linear Regression and lets us extract feature importance to identify key business levers.</a:t>
            </a:r>
            <a:endParaRPr sz="1100">
              <a:solidFill>
                <a:srgbClr val="F4F9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3DAA6A"/>
                </a:solidFill>
              </a:rPr>
              <a:t>Key Finding</a:t>
            </a:r>
            <a:endParaRPr b="1" sz="1600">
              <a:solidFill>
                <a:srgbClr val="3DAA6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4F9F5"/>
                </a:solidFill>
              </a:rPr>
              <a:t>Purchase Rate (frequency ÷ active months) is the #1 driver of CLV at 81% — how consistently a customer buys matters more than income or any other variable. R² = 0.80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5" name="Google Shape;415;p27" title="budge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1563" y="2086463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8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CUSTOMER LIFETIME VALUE — METHODOLOGY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CLV Formula, Feature Engineering &amp; Model Design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8"/>
          <p:cNvSpPr/>
          <p:nvPr/>
        </p:nvSpPr>
        <p:spPr>
          <a:xfrm>
            <a:off x="365760" y="1170432"/>
            <a:ext cx="8412480" cy="685800"/>
          </a:xfrm>
          <a:prstGeom prst="rect">
            <a:avLst/>
          </a:prstGeom>
          <a:solidFill>
            <a:srgbClr val="1E6B3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548640" y="1170432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CLV Formula: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8"/>
          <p:cNvSpPr/>
          <p:nvPr/>
        </p:nvSpPr>
        <p:spPr>
          <a:xfrm>
            <a:off x="2103120" y="1170432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( Total Spend ÷ Days as Customer ) × 365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8"/>
          <p:cNvSpPr/>
          <p:nvPr/>
        </p:nvSpPr>
        <p:spPr>
          <a:xfrm>
            <a:off x="7132320" y="1170432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annualized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8"/>
          <p:cNvSpPr/>
          <p:nvPr/>
        </p:nvSpPr>
        <p:spPr>
          <a:xfrm>
            <a:off x="320040" y="2057400"/>
            <a:ext cx="2633472" cy="27432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320040" y="2057400"/>
            <a:ext cx="2633472" cy="411480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411480" y="20574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A1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A12"/>
                </a:solidFill>
                <a:latin typeface="Calibri"/>
                <a:ea typeface="Calibri"/>
                <a:cs typeface="Calibri"/>
                <a:sym typeface="Calibri"/>
              </a:rPr>
              <a:t>Target Variable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8"/>
          <p:cNvSpPr/>
          <p:nvPr/>
        </p:nvSpPr>
        <p:spPr>
          <a:xfrm>
            <a:off x="411480" y="2514600"/>
            <a:ext cx="246888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CLV computed per customer from transaction history (2012–2014, ~1.5 years)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Annualized using total spend ÷ tenure in days × 365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Continuous regression target — not a classification problem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Distribution is right-skewed (median $257, mean $459)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8"/>
          <p:cNvSpPr/>
          <p:nvPr/>
        </p:nvSpPr>
        <p:spPr>
          <a:xfrm>
            <a:off x="3154680" y="2057400"/>
            <a:ext cx="2633472" cy="27432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3154680" y="2057400"/>
            <a:ext cx="2633472" cy="41148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3246120" y="20574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A1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A12"/>
                </a:solidFill>
                <a:latin typeface="Calibri"/>
                <a:ea typeface="Calibri"/>
                <a:cs typeface="Calibri"/>
                <a:sym typeface="Calibri"/>
              </a:rPr>
              <a:t>Features Used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8"/>
          <p:cNvSpPr/>
          <p:nvPr/>
        </p:nvSpPr>
        <p:spPr>
          <a:xfrm>
            <a:off x="3246120" y="2514600"/>
            <a:ext cx="246888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PurchaseRate: frequency ÷ tenure days (#1 driver, 81% importance)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Income (9.6% feature importance)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Succ_web_purch — web purchase success rate (3%)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NumDealsPurchases, Age, NumWebVisitsMonth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Recency, Web_Share, NumCatalogPurchases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TotalChildren (household size context)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8"/>
          <p:cNvSpPr/>
          <p:nvPr/>
        </p:nvSpPr>
        <p:spPr>
          <a:xfrm>
            <a:off x="5989320" y="2057400"/>
            <a:ext cx="2633472" cy="27432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8"/>
          <p:cNvSpPr/>
          <p:nvPr/>
        </p:nvSpPr>
        <p:spPr>
          <a:xfrm>
            <a:off x="5989320" y="2057400"/>
            <a:ext cx="263347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8"/>
          <p:cNvSpPr/>
          <p:nvPr/>
        </p:nvSpPr>
        <p:spPr>
          <a:xfrm>
            <a:off x="6080760" y="20574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A1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1A12"/>
                </a:solidFill>
                <a:latin typeface="Calibri"/>
                <a:ea typeface="Calibri"/>
                <a:cs typeface="Calibri"/>
                <a:sym typeface="Calibri"/>
              </a:rPr>
              <a:t>Model: Random Forest Regression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8"/>
          <p:cNvSpPr/>
          <p:nvPr/>
        </p:nvSpPr>
        <p:spPr>
          <a:xfrm>
            <a:off x="6080760" y="2514600"/>
            <a:ext cx="246888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Chosen for ability to capture non-linear CLV relationships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Handles interactions between purchase rate, income, channels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R² = 0.80 — model explains 80% of CLV variance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Feature importance extracted to identify key business levers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Same preprocessing pipeline as churn model for consistency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Trained on 80% of data, evaluated on 20% holdout set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9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CUSTOMER LIFETIME VALUE —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9"/>
          <p:cNvSpPr/>
          <p:nvPr/>
        </p:nvSpPr>
        <p:spPr>
          <a:xfrm>
            <a:off x="457200" y="512064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Predicted CLV by Segment &amp; Feature Importance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170432"/>
            <a:ext cx="4937760" cy="2651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9240" y="1170432"/>
            <a:ext cx="347472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9"/>
          <p:cNvSpPr/>
          <p:nvPr/>
        </p:nvSpPr>
        <p:spPr>
          <a:xfrm>
            <a:off x="320040" y="4023360"/>
            <a:ext cx="1344168" cy="804672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9"/>
          <p:cNvSpPr/>
          <p:nvPr/>
        </p:nvSpPr>
        <p:spPr>
          <a:xfrm>
            <a:off x="320040" y="4023360"/>
            <a:ext cx="1344168" cy="9144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9"/>
          <p:cNvSpPr/>
          <p:nvPr/>
        </p:nvSpPr>
        <p:spPr>
          <a:xfrm>
            <a:off x="320040" y="4114800"/>
            <a:ext cx="13441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$257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9"/>
          <p:cNvSpPr/>
          <p:nvPr/>
        </p:nvSpPr>
        <p:spPr>
          <a:xfrm>
            <a:off x="320040" y="4507992"/>
            <a:ext cx="1344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Median CLV (overall)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9"/>
          <p:cNvSpPr/>
          <p:nvPr/>
        </p:nvSpPr>
        <p:spPr>
          <a:xfrm>
            <a:off x="1783080" y="4023360"/>
            <a:ext cx="1344168" cy="804672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9"/>
          <p:cNvSpPr/>
          <p:nvPr/>
        </p:nvSpPr>
        <p:spPr>
          <a:xfrm>
            <a:off x="1783080" y="4023360"/>
            <a:ext cx="1344168" cy="91440"/>
          </a:xfrm>
          <a:prstGeom prst="rect">
            <a:avLst/>
          </a:prstGeom>
          <a:solidFill>
            <a:srgbClr val="F4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9"/>
          <p:cNvSpPr/>
          <p:nvPr/>
        </p:nvSpPr>
        <p:spPr>
          <a:xfrm>
            <a:off x="1783080" y="4114800"/>
            <a:ext cx="13441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$459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9"/>
          <p:cNvSpPr/>
          <p:nvPr/>
        </p:nvSpPr>
        <p:spPr>
          <a:xfrm>
            <a:off x="1783080" y="4507992"/>
            <a:ext cx="1344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Mean CLV (overall)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9"/>
          <p:cNvSpPr/>
          <p:nvPr/>
        </p:nvSpPr>
        <p:spPr>
          <a:xfrm>
            <a:off x="3246120" y="4023360"/>
            <a:ext cx="1344168" cy="804672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9"/>
          <p:cNvSpPr/>
          <p:nvPr/>
        </p:nvSpPr>
        <p:spPr>
          <a:xfrm>
            <a:off x="3246120" y="4023360"/>
            <a:ext cx="1344168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9"/>
          <p:cNvSpPr/>
          <p:nvPr/>
        </p:nvSpPr>
        <p:spPr>
          <a:xfrm>
            <a:off x="3246120" y="4114800"/>
            <a:ext cx="13441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$810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9"/>
          <p:cNvSpPr/>
          <p:nvPr/>
        </p:nvSpPr>
        <p:spPr>
          <a:xfrm>
            <a:off x="3246120" y="4507992"/>
            <a:ext cx="1344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Regular </a:t>
            </a:r>
            <a:r>
              <a:rPr b="0" i="0" lang="en" sz="9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CLV/yr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9"/>
          <p:cNvSpPr/>
          <p:nvPr/>
        </p:nvSpPr>
        <p:spPr>
          <a:xfrm>
            <a:off x="4709160" y="4023360"/>
            <a:ext cx="1344168" cy="804672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9"/>
          <p:cNvSpPr/>
          <p:nvPr/>
        </p:nvSpPr>
        <p:spPr>
          <a:xfrm>
            <a:off x="4709160" y="4023360"/>
            <a:ext cx="1344168" cy="9144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9"/>
          <p:cNvSpPr/>
          <p:nvPr/>
        </p:nvSpPr>
        <p:spPr>
          <a:xfrm>
            <a:off x="4709160" y="4114800"/>
            <a:ext cx="13441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$796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9"/>
          <p:cNvSpPr/>
          <p:nvPr/>
        </p:nvSpPr>
        <p:spPr>
          <a:xfrm>
            <a:off x="4709160" y="4507992"/>
            <a:ext cx="1344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High Value</a:t>
            </a:r>
            <a:r>
              <a:rPr b="0" i="0" lang="en" sz="9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 CLV/yr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9"/>
          <p:cNvSpPr/>
          <p:nvPr/>
        </p:nvSpPr>
        <p:spPr>
          <a:xfrm>
            <a:off x="6172200" y="4023360"/>
            <a:ext cx="1344168" cy="804672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9"/>
          <p:cNvSpPr/>
          <p:nvPr/>
        </p:nvSpPr>
        <p:spPr>
          <a:xfrm>
            <a:off x="6172200" y="4023360"/>
            <a:ext cx="1344168" cy="9144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9"/>
          <p:cNvSpPr/>
          <p:nvPr/>
        </p:nvSpPr>
        <p:spPr>
          <a:xfrm>
            <a:off x="6172200" y="4114800"/>
            <a:ext cx="13441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5252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E05252"/>
                </a:solidFill>
                <a:latin typeface="Calibri"/>
                <a:ea typeface="Calibri"/>
                <a:cs typeface="Calibri"/>
                <a:sym typeface="Calibri"/>
              </a:rPr>
              <a:t>$106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9"/>
          <p:cNvSpPr/>
          <p:nvPr/>
        </p:nvSpPr>
        <p:spPr>
          <a:xfrm>
            <a:off x="6172200" y="4507992"/>
            <a:ext cx="1344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At-Risk CLV/yr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9"/>
          <p:cNvSpPr/>
          <p:nvPr/>
        </p:nvSpPr>
        <p:spPr>
          <a:xfrm>
            <a:off x="7635240" y="4023360"/>
            <a:ext cx="1344168" cy="804672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9"/>
          <p:cNvSpPr/>
          <p:nvPr/>
        </p:nvSpPr>
        <p:spPr>
          <a:xfrm>
            <a:off x="7635240" y="4023360"/>
            <a:ext cx="1344168" cy="91440"/>
          </a:xfrm>
          <a:prstGeom prst="rect">
            <a:avLst/>
          </a:prstGeom>
          <a:solidFill>
            <a:srgbClr val="2EB8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9"/>
          <p:cNvSpPr/>
          <p:nvPr/>
        </p:nvSpPr>
        <p:spPr>
          <a:xfrm>
            <a:off x="7635240" y="4114800"/>
            <a:ext cx="134416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B872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2EB872"/>
                </a:solidFill>
                <a:latin typeface="Calibri"/>
                <a:ea typeface="Calibri"/>
                <a:cs typeface="Calibri"/>
                <a:sym typeface="Calibri"/>
              </a:rPr>
              <a:t>0.80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9"/>
          <p:cNvSpPr/>
          <p:nvPr/>
        </p:nvSpPr>
        <p:spPr>
          <a:xfrm>
            <a:off x="7635240" y="4507992"/>
            <a:ext cx="1344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Model R²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/>
          <p:cNvSpPr/>
          <p:nvPr/>
        </p:nvSpPr>
        <p:spPr>
          <a:xfrm>
            <a:off x="457200" y="509945"/>
            <a:ext cx="822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Dashboard and Recommendations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0"/>
          <p:cNvSpPr/>
          <p:nvPr/>
        </p:nvSpPr>
        <p:spPr>
          <a:xfrm>
            <a:off x="365760" y="2212848"/>
            <a:ext cx="1920300" cy="26061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0"/>
          <p:cNvSpPr/>
          <p:nvPr/>
        </p:nvSpPr>
        <p:spPr>
          <a:xfrm>
            <a:off x="365750" y="1249700"/>
            <a:ext cx="1920300" cy="35691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0"/>
          <p:cNvSpPr/>
          <p:nvPr/>
        </p:nvSpPr>
        <p:spPr>
          <a:xfrm>
            <a:off x="365762" y="2245555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1" sz="1200">
              <a:solidFill>
                <a:srgbClr val="3DAA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0"/>
          <p:cNvSpPr/>
          <p:nvPr/>
        </p:nvSpPr>
        <p:spPr>
          <a:xfrm>
            <a:off x="457240" y="2866610"/>
            <a:ext cx="1737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Deliver insights for strategic decision-making</a:t>
            </a:r>
            <a:endParaRPr sz="1000">
              <a:solidFill>
                <a:srgbClr val="8FA89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0"/>
          <p:cNvSpPr/>
          <p:nvPr/>
        </p:nvSpPr>
        <p:spPr>
          <a:xfrm>
            <a:off x="2428199" y="1249703"/>
            <a:ext cx="6227100" cy="35691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EB872"/>
                </a:solidFill>
              </a:rPr>
              <a:t>Provide a customer-level view with segment, churn risk, predicted CLV, and recommended action.</a:t>
            </a:r>
            <a:endParaRPr b="1">
              <a:solidFill>
                <a:srgbClr val="2EB87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2EB87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4F9F5"/>
              </a:buClr>
              <a:buSzPts val="1200"/>
              <a:buChar char="●"/>
            </a:pPr>
            <a:r>
              <a:rPr lang="en" sz="1200">
                <a:solidFill>
                  <a:srgbClr val="F4F9F5"/>
                </a:solidFill>
              </a:rPr>
              <a:t>Overall, resources should focus first </a:t>
            </a:r>
            <a:r>
              <a:rPr b="1" lang="en" sz="1200">
                <a:solidFill>
                  <a:srgbClr val="F4F9F5"/>
                </a:solidFill>
              </a:rPr>
              <a:t>where customer value and revenue risk are highest.</a:t>
            </a:r>
            <a:endParaRPr b="1" sz="1200">
              <a:solidFill>
                <a:srgbClr val="F4F9F5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200"/>
              <a:buChar char="●"/>
            </a:pPr>
            <a:r>
              <a:rPr lang="en" sz="1200">
                <a:solidFill>
                  <a:srgbClr val="F4F9F5"/>
                </a:solidFill>
              </a:rPr>
              <a:t>The </a:t>
            </a:r>
            <a:r>
              <a:rPr b="1" lang="en" sz="1200">
                <a:solidFill>
                  <a:srgbClr val="F4F9F5"/>
                </a:solidFill>
              </a:rPr>
              <a:t>Regular segment is the top priority</a:t>
            </a:r>
            <a:r>
              <a:rPr lang="en" sz="1200">
                <a:solidFill>
                  <a:srgbClr val="F4F9F5"/>
                </a:solidFill>
              </a:rPr>
              <a:t> because it has high value but meaningful churn risk.</a:t>
            </a:r>
            <a:endParaRPr sz="1200">
              <a:solidFill>
                <a:srgbClr val="F4F9F5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200"/>
              <a:buChar char="●"/>
            </a:pPr>
            <a:r>
              <a:rPr lang="en" sz="1200">
                <a:solidFill>
                  <a:srgbClr val="F4F9F5"/>
                </a:solidFill>
              </a:rPr>
              <a:t>High-Value customers should be maintained and grown through targeted offers and increased purchase frequency.</a:t>
            </a:r>
            <a:endParaRPr sz="1200">
              <a:solidFill>
                <a:srgbClr val="F4F9F5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200"/>
              <a:buChar char="●"/>
            </a:pPr>
            <a:r>
              <a:rPr lang="en" sz="1200">
                <a:solidFill>
                  <a:srgbClr val="F4F9F5"/>
                </a:solidFill>
              </a:rPr>
              <a:t>Occasional customers should be nurtured selectively to move them into the Regular segment.</a:t>
            </a:r>
            <a:endParaRPr sz="1200">
              <a:solidFill>
                <a:srgbClr val="F4F9F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F4F9F5"/>
              </a:solidFill>
            </a:endParaRPr>
          </a:p>
        </p:txBody>
      </p:sp>
      <p:pic>
        <p:nvPicPr>
          <p:cNvPr id="483" name="Google Shape;483;p30" title="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312" y="1750475"/>
            <a:ext cx="495075" cy="49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1"/>
          <p:cNvSpPr/>
          <p:nvPr/>
        </p:nvSpPr>
        <p:spPr>
          <a:xfrm>
            <a:off x="457200" y="25603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A6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3DAA6A"/>
                </a:solidFill>
                <a:latin typeface="Calibri"/>
                <a:ea typeface="Calibri"/>
                <a:cs typeface="Calibri"/>
                <a:sym typeface="Calibri"/>
              </a:rPr>
              <a:t>STRATEGIC RECOMMENDATIONS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1"/>
          <p:cNvSpPr/>
          <p:nvPr/>
        </p:nvSpPr>
        <p:spPr>
          <a:xfrm>
            <a:off x="457200" y="512064"/>
            <a:ext cx="822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Actionable Strategies by Customer Segment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1"/>
          <p:cNvSpPr/>
          <p:nvPr/>
        </p:nvSpPr>
        <p:spPr>
          <a:xfrm>
            <a:off x="320040" y="1080000"/>
            <a:ext cx="8686800" cy="8799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1"/>
          <p:cNvSpPr/>
          <p:nvPr/>
        </p:nvSpPr>
        <p:spPr>
          <a:xfrm>
            <a:off x="320040" y="1080000"/>
            <a:ext cx="8686800" cy="4206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1"/>
          <p:cNvSpPr/>
          <p:nvPr/>
        </p:nvSpPr>
        <p:spPr>
          <a:xfrm>
            <a:off x="411480" y="1080000"/>
            <a:ext cx="6000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 1 — Regular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1"/>
          <p:cNvSpPr/>
          <p:nvPr/>
        </p:nvSpPr>
        <p:spPr>
          <a:xfrm>
            <a:off x="7635240" y="1080000"/>
            <a:ext cx="1371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TOP PRIORITY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1"/>
          <p:cNvSpPr/>
          <p:nvPr/>
        </p:nvSpPr>
        <p:spPr>
          <a:xfrm>
            <a:off x="429768" y="1500600"/>
            <a:ext cx="84000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Launch VIP loyalty tier with exclusive wine &amp; premium category perks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Trigger personalized retention campaigns before 60-day recency mark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Monitor churn signals closely </a:t>
            </a:r>
            <a:r>
              <a:rPr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" sz="10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33% churn risk and $810/yr CLV) </a:t>
            </a:r>
            <a:r>
              <a:rPr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– Win-back campaigns with discount triggers at 60-day inactivity + Proactive outreach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1"/>
          <p:cNvSpPr/>
          <p:nvPr/>
        </p:nvSpPr>
        <p:spPr>
          <a:xfrm>
            <a:off x="320040" y="1987500"/>
            <a:ext cx="8686800" cy="8799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1"/>
          <p:cNvSpPr/>
          <p:nvPr/>
        </p:nvSpPr>
        <p:spPr>
          <a:xfrm>
            <a:off x="320040" y="1987500"/>
            <a:ext cx="8686800" cy="42060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1"/>
          <p:cNvSpPr/>
          <p:nvPr/>
        </p:nvSpPr>
        <p:spPr>
          <a:xfrm>
            <a:off x="411480" y="1987500"/>
            <a:ext cx="6000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 2 — High 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1"/>
          <p:cNvSpPr/>
          <p:nvPr/>
        </p:nvSpPr>
        <p:spPr>
          <a:xfrm>
            <a:off x="7635240" y="1987500"/>
            <a:ext cx="1371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MAINTAIN &amp; GROW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1"/>
          <p:cNvSpPr/>
          <p:nvPr/>
        </p:nvSpPr>
        <p:spPr>
          <a:xfrm>
            <a:off x="429768" y="2408100"/>
            <a:ext cx="84000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Increase web conversion to increase purchase frequency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Cross-sell wine &amp; meat product categories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Leverage high campaign acceptance rate (~1</a:t>
            </a:r>
            <a:r>
              <a:rPr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" sz="10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%) for upsell campaigns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1"/>
          <p:cNvSpPr/>
          <p:nvPr/>
        </p:nvSpPr>
        <p:spPr>
          <a:xfrm>
            <a:off x="320040" y="2895000"/>
            <a:ext cx="8686800" cy="8799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31"/>
          <p:cNvSpPr/>
          <p:nvPr/>
        </p:nvSpPr>
        <p:spPr>
          <a:xfrm>
            <a:off x="320040" y="2895000"/>
            <a:ext cx="8686800" cy="420600"/>
          </a:xfrm>
          <a:prstGeom prst="rect">
            <a:avLst/>
          </a:prstGeom>
          <a:solidFill>
            <a:srgbClr val="E052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1"/>
          <p:cNvSpPr/>
          <p:nvPr/>
        </p:nvSpPr>
        <p:spPr>
          <a:xfrm>
            <a:off x="411480" y="2895000"/>
            <a:ext cx="6000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Cluster 0 — Occasional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1"/>
          <p:cNvSpPr/>
          <p:nvPr/>
        </p:nvSpPr>
        <p:spPr>
          <a:xfrm>
            <a:off x="7635240" y="2895000"/>
            <a:ext cx="1371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NURTURE SELECTIVELY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1"/>
          <p:cNvSpPr/>
          <p:nvPr/>
        </p:nvSpPr>
        <p:spPr>
          <a:xfrm>
            <a:off x="429768" y="3315600"/>
            <a:ext cx="84000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Track if occasional buyers migrate into Regular segment over time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Increase catalog sales following successful patterns of Regular segment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Focus on potential spender to promote cross-sell and upsell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1"/>
          <p:cNvSpPr/>
          <p:nvPr/>
        </p:nvSpPr>
        <p:spPr>
          <a:xfrm>
            <a:off x="320040" y="3802500"/>
            <a:ext cx="8686800" cy="879900"/>
          </a:xfrm>
          <a:prstGeom prst="rect">
            <a:avLst/>
          </a:prstGeom>
          <a:solidFill>
            <a:srgbClr val="0F3D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1"/>
          <p:cNvSpPr/>
          <p:nvPr/>
        </p:nvSpPr>
        <p:spPr>
          <a:xfrm>
            <a:off x="320040" y="3802500"/>
            <a:ext cx="8686800" cy="420600"/>
          </a:xfrm>
          <a:prstGeom prst="rect">
            <a:avLst/>
          </a:prstGeom>
          <a:solidFill>
            <a:srgbClr val="2E8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1"/>
          <p:cNvSpPr/>
          <p:nvPr/>
        </p:nvSpPr>
        <p:spPr>
          <a:xfrm>
            <a:off x="411480" y="3802500"/>
            <a:ext cx="6000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Cluster 3 — At 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1"/>
          <p:cNvSpPr/>
          <p:nvPr/>
        </p:nvSpPr>
        <p:spPr>
          <a:xfrm>
            <a:off x="7635240" y="3802500"/>
            <a:ext cx="1371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LOW-COST RETENTION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1"/>
          <p:cNvSpPr/>
          <p:nvPr/>
        </p:nvSpPr>
        <p:spPr>
          <a:xfrm>
            <a:off x="286800" y="4250700"/>
            <a:ext cx="84000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Deploy win-back campaigns with discount triggers at 60-day inactivity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Promote wine (highest offer redemption category) to re-engage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Set automated </a:t>
            </a:r>
            <a:r>
              <a:rPr lang="en" sz="10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" sz="1000" u="none" cap="none" strike="noStrike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0-day inactivity alerts for proactive outreach</a:t>
            </a:r>
            <a:endParaRPr b="0" i="0" sz="1000" u="none" cap="none" strike="noStrike">
              <a:solidFill>
                <a:srgbClr val="F4F9F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2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2"/>
          <p:cNvSpPr/>
          <p:nvPr/>
        </p:nvSpPr>
        <p:spPr>
          <a:xfrm>
            <a:off x="365760" y="4846320"/>
            <a:ext cx="841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Julian Cerro  ·  Waleed El-Jack  ·  Marianne Murrle  ·  Rachel Schultz  ·  Tiana Quiroga  · 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2"/>
          <p:cNvSpPr/>
          <p:nvPr/>
        </p:nvSpPr>
        <p:spPr>
          <a:xfrm>
            <a:off x="457250" y="177711"/>
            <a:ext cx="822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Dashboard Overview (Customer Segment Overview)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9" name="Google Shape;51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837" y="771400"/>
            <a:ext cx="7268415" cy="40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3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3"/>
          <p:cNvSpPr/>
          <p:nvPr/>
        </p:nvSpPr>
        <p:spPr>
          <a:xfrm>
            <a:off x="365760" y="4846320"/>
            <a:ext cx="841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Julian Cerro  ·  Waleed El-Jack  ·  Marianne Murrle  ·  Rachel Schultz  ·  Tiana Quiroga  · 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7" name="Google Shape;52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538" y="751588"/>
            <a:ext cx="7440913" cy="4051249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33"/>
          <p:cNvSpPr/>
          <p:nvPr/>
        </p:nvSpPr>
        <p:spPr>
          <a:xfrm>
            <a:off x="457250" y="177711"/>
            <a:ext cx="822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Dashboard Overview (</a:t>
            </a:r>
            <a:r>
              <a:rPr b="1" lang="en" sz="28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Churn &amp; CLV Overview</a:t>
            </a:r>
            <a:r>
              <a:rPr b="1" lang="en" sz="28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12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4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3DAA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4"/>
          <p:cNvSpPr/>
          <p:nvPr/>
        </p:nvSpPr>
        <p:spPr>
          <a:xfrm>
            <a:off x="365760" y="4846320"/>
            <a:ext cx="8412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89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FA898"/>
                </a:solidFill>
                <a:latin typeface="Calibri"/>
                <a:ea typeface="Calibri"/>
                <a:cs typeface="Calibri"/>
                <a:sym typeface="Calibri"/>
              </a:rPr>
              <a:t>Julian Cerro  ·  Waleed El-Jack  ·  Marianne Murrle  ·  Rachel Schultz  ·  Tiana Quiroga  · 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6" name="Google Shape;53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488" y="754275"/>
            <a:ext cx="7431015" cy="4045887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4"/>
          <p:cNvSpPr/>
          <p:nvPr/>
        </p:nvSpPr>
        <p:spPr>
          <a:xfrm>
            <a:off x="457250" y="177711"/>
            <a:ext cx="82296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9F5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4F9F5"/>
                </a:solidFill>
                <a:latin typeface="Calibri"/>
                <a:ea typeface="Calibri"/>
                <a:cs typeface="Calibri"/>
                <a:sym typeface="Calibri"/>
              </a:rPr>
              <a:t>Dashboard Overview (Segment Deep Dive)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